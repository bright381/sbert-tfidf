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9" r:id="rId11"/>
    <p:sldId id="270" r:id="rId12"/>
    <p:sldId id="267" r:id="rId13"/>
    <p:sldId id="265" r:id="rId14"/>
    <p:sldId id="27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DAA99-A6EE-DFDD-303F-993ED469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52E281-44F5-4AA0-C1FB-48DD28FC5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BBCD38-4135-CE6B-5D72-1D04A467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17A0D4-56BE-FDE0-B8FC-6E319D47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18FE24-4DC1-6635-0408-EC0C6F9B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8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DE487-D34D-CA0F-00A5-F14334B1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D8249E-1D06-1CEF-09FC-1B0F67EF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89F91F-EEAB-606B-6BF9-0E019002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9B25B7-959C-0382-ECC7-72AB6AB7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A0281B-69B1-A615-4C1B-8DBFF6AA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62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5A002-FB8E-D2F8-737F-8CA5F9F7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FE2131-D22E-1466-4A2D-D48BA119C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973115-D17E-ED06-DDC4-B01D3C67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5C0EBD-AFA2-43C5-C77A-0D9F4BEB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21A50-CDCE-2A25-0686-4A8DE0FB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5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FCB7BA-BFF8-5255-7760-E53CA1D6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F323F5-85AD-9FD7-E137-E6D36B6B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78A3D8-34A6-366A-B2B9-81C7A9AC6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EF7FFB-8DD6-969E-DED5-C3927EC2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AB1511-92AA-D275-8D58-12035865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0F6E18-2422-6895-4B49-EF6D6A7A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35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C2D685-D5C8-261A-3CDD-E99916EAE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EDE0E5-0F2E-4FE1-CF62-21115E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D5C640-20A6-4A5F-4256-E4FCC8699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2954E3-28E1-1318-F735-6BB7C2DC5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3CD00E-9489-CFA2-E8DE-3FE3124EA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890796-0571-83DE-3CBC-1B682044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22A858A-6028-54F7-8A0F-83E5EC52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734653-C536-E71B-97C7-A5AA381D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53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03DCA-A8E4-5E39-306C-7D68769A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CA9D7A-12A4-00D7-F614-F77710F5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81CEFB-2D6D-2C00-D017-B173B789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DD687A-8652-7C11-4A2A-1772961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17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5E03B8-3026-6A61-1100-34B29DAD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9CE11C-AAAE-D8E8-D03C-66D92243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E05C4F-E3E1-910E-DC22-17A92E47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5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6D131-848F-A954-4417-421F1973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C49D71-37CD-500A-F87C-15BEC9730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38DEED-DFE0-952D-A600-7BDE02A4E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60F2C8-187E-AD1D-7157-1328558A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EFB840-F97C-ECAD-3F8D-AE7840BF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390A24-8FC1-2D3B-AF3B-E7DA64C7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35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C14EA-E81F-A82B-A570-729CB332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0228EA-BB85-58C7-465E-86E0AA2CA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565E2B-9518-E9C8-EA04-762287596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37DB12-7269-EA59-F5D5-4E9915E1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CFEB9F-31C8-9AF8-1958-32758DD8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A60265-31B1-ECAD-1742-2E584DCF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07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F714F0-8E9B-5576-7E51-7F40CFBD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A295DD-EB14-E30A-DBFE-4230CD9CA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0D4861-45E1-6AFC-9B9E-0937259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01885A-A729-D3EF-0200-F6F06003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DB713E-2631-D8F5-BCE7-E72C4B8E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59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7A83BC-1BDE-F5DC-2A47-868454027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8230A1-0C60-1AD5-4CCE-D15963C0B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D46969-DEC3-017B-8DCC-E75F8B28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676CF1-3BE5-1888-A36F-950106A3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8292BE-723D-EE03-3569-CCB4BC19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0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A86BD4-4221-0FA3-4CB0-54385A3D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C73009-F88F-418B-801B-EB0FAB67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E5D884-ECAF-9BE0-DB47-E125F725A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C8ED5-A351-4B80-BCFB-0AA3BC3F404E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FACCC-9D5D-F4EE-B569-16C1CCC64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EDFA2E-574D-6D97-B9AF-A99D9F1F1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20E92-698C-4FB4-A2EE-FD3658CFE7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26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-ui-zuyw.onrender.com/" TargetMode="External"/><Relationship Id="rId2" Type="http://schemas.openxmlformats.org/officeDocument/2006/relationships/hyperlink" Target="https://scoring-api-bhx1.onrender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1326/jisa.v8i1.217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0647B9-DEB0-914A-E1C6-A669576A5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GB" sz="4800">
                <a:solidFill>
                  <a:srgbClr val="FFFFFF"/>
                </a:solidFill>
              </a:rPr>
              <a:t>Projet 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2EBABE-04EA-E7FD-B61C-34D8548DE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Rémy Bright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4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0E739A5-710C-F2D5-370D-686DC5D7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Plan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2A7FA3A-8F6D-A9FC-E405-5D6026959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FFFFFF"/>
                </a:solidFill>
              </a:rPr>
              <a:t>I) </a:t>
            </a:r>
            <a:r>
              <a:rPr lang="en-GB" sz="2400" dirty="0" err="1">
                <a:solidFill>
                  <a:srgbClr val="FFFFFF"/>
                </a:solidFill>
              </a:rPr>
              <a:t>Dahsboard</a:t>
            </a:r>
            <a:r>
              <a:rPr lang="en-GB" sz="2400" dirty="0">
                <a:solidFill>
                  <a:srgbClr val="FFFFFF"/>
                </a:solidFill>
              </a:rPr>
              <a:t> de visualisation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112863-3559-1700-FC8A-05CE0AF06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FFFFFF"/>
                </a:solidFill>
              </a:rPr>
              <a:t>II) </a:t>
            </a:r>
            <a:r>
              <a:rPr lang="en-GB" sz="2400" dirty="0" err="1">
                <a:solidFill>
                  <a:srgbClr val="FFFFFF"/>
                </a:solidFill>
              </a:rPr>
              <a:t>Veille</a:t>
            </a:r>
            <a:r>
              <a:rPr lang="en-GB" sz="2400" dirty="0">
                <a:solidFill>
                  <a:srgbClr val="FFFFFF"/>
                </a:solidFill>
              </a:rPr>
              <a:t> </a:t>
            </a:r>
            <a:r>
              <a:rPr lang="en-GB" sz="2400" dirty="0" err="1">
                <a:solidFill>
                  <a:srgbClr val="FFFFFF"/>
                </a:solidFill>
              </a:rPr>
              <a:t>technologique</a:t>
            </a:r>
            <a:r>
              <a:rPr lang="en-GB" sz="2400" dirty="0">
                <a:solidFill>
                  <a:srgbClr val="FFFFFF"/>
                </a:solidFill>
              </a:rPr>
              <a:t> et POC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FFFF"/>
                </a:solidFill>
              </a:rPr>
              <a:t>	</a:t>
            </a:r>
            <a:r>
              <a:rPr lang="en-GB" sz="2400" dirty="0" err="1">
                <a:solidFill>
                  <a:srgbClr val="FFFFFF"/>
                </a:solidFill>
              </a:rPr>
              <a:t>i</a:t>
            </a:r>
            <a:r>
              <a:rPr lang="en-GB" sz="2400" dirty="0">
                <a:solidFill>
                  <a:srgbClr val="FFFFFF"/>
                </a:solidFill>
              </a:rPr>
              <a:t>) Principe</a:t>
            </a:r>
          </a:p>
          <a:p>
            <a:pPr marL="0" indent="0">
              <a:buNone/>
            </a:pPr>
            <a:endParaRPr lang="en-GB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FFFFFF"/>
                </a:solidFill>
              </a:rPr>
              <a:t>	ii) </a:t>
            </a:r>
            <a:r>
              <a:rPr lang="en-GB" sz="2400" dirty="0" err="1">
                <a:solidFill>
                  <a:srgbClr val="FFFFFF"/>
                </a:solidFill>
              </a:rPr>
              <a:t>Implémentation</a:t>
            </a:r>
            <a:endParaRPr lang="en-GB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FFFFFF"/>
                </a:solidFill>
              </a:rPr>
              <a:t>	iii) Conclusion</a:t>
            </a:r>
          </a:p>
        </p:txBody>
      </p:sp>
    </p:spTree>
    <p:extLst>
      <p:ext uri="{BB962C8B-B14F-4D97-AF65-F5344CB8AC3E}">
        <p14:creationId xmlns:p14="http://schemas.microsoft.com/office/powerpoint/2010/main" val="2583066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00E09-B3DC-C6D7-4E67-E809B9B4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4">
            <a:extLst>
              <a:ext uri="{FF2B5EF4-FFF2-40B4-BE49-F238E27FC236}">
                <a16:creationId xmlns:a16="http://schemas.microsoft.com/office/drawing/2014/main" id="{7814FA35-A7D8-4111-786F-19A61DAD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81" y="361157"/>
            <a:ext cx="10515600" cy="1325563"/>
          </a:xfrm>
        </p:spPr>
        <p:txBody>
          <a:bodyPr/>
          <a:lstStyle/>
          <a:p>
            <a:r>
              <a:rPr lang="en-GB" dirty="0"/>
              <a:t>I) Dashboard de visualisation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D129746A-6AE6-313F-4A12-0DFA7F96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340" y="1518550"/>
            <a:ext cx="10515600" cy="4351338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https://scoring-api-bhx1.onrender.com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https://streamlit-ui-zuyw.onrender.com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AE3CC95-63DE-5D99-A09C-EF60B11F4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06" y="260134"/>
            <a:ext cx="5163403" cy="230058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687196E-21C8-0F43-708D-32CF07897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99" y="3233102"/>
            <a:ext cx="3703932" cy="350506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7692966-1D42-0076-6A87-8EBEEF2FC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745" y="3140550"/>
            <a:ext cx="7283052" cy="359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0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03AB2-0C06-05CC-B6B9-73106BD8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6EFCB3-C7B0-AC27-E5B8-E5091DC98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Hybrid Feature Combination of TF-IDF and BERT for Enhanced Information Retrieval Accuracy,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  </a:t>
            </a:r>
            <a:r>
              <a:rPr lang="en-GB" dirty="0" err="1">
                <a:solidFill>
                  <a:schemeClr val="bg1"/>
                </a:solidFill>
              </a:rPr>
              <a:t>Aprilio</a:t>
            </a:r>
            <a:r>
              <a:rPr lang="en-GB" dirty="0">
                <a:solidFill>
                  <a:schemeClr val="bg1"/>
                </a:solidFill>
              </a:rPr>
              <a:t> et al. (</a:t>
            </a:r>
            <a:r>
              <a:rPr lang="fr-FR" dirty="0">
                <a:solidFill>
                  <a:schemeClr val="bg1"/>
                </a:solidFill>
              </a:rPr>
              <a:t>DOI:</a:t>
            </a:r>
            <a:r>
              <a:rPr lang="fr-FR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10.31326/jisa.v8i1.2179</a:t>
            </a:r>
            <a:r>
              <a:rPr lang="en-GB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93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83CAC-D440-39EE-8A14-131BF7AE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AB796-C691-5190-C5DA-BF3A5B09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06C2958-5028-C6CA-B4AA-304DA5B1E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66" y="1316073"/>
            <a:ext cx="3985668" cy="53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9C162-A571-EE4B-C37D-BB5F8D06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868AE98A-2026-6096-ACE5-2DEA027C6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563" y="1820342"/>
            <a:ext cx="5283682" cy="37728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A283BE4-EB3B-5BEA-C1DD-B681D76F2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50" y="1820342"/>
            <a:ext cx="5273380" cy="389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9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2E863-9670-8071-4351-9B7108C0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059956-9F88-A01B-84AF-340AC12ED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732" y="2205581"/>
            <a:ext cx="6706536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01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0DC87-55B9-FF41-4A87-0BA6B7E2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83258-B6B7-2E47-97DD-6D4DBF89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1A92DEF-526B-4014-DFD2-688989CA0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7959"/>
            <a:ext cx="3985668" cy="53196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B42EC9-A73F-9A46-3C73-DF399AF067F9}"/>
              </a:ext>
            </a:extLst>
          </p:cNvPr>
          <p:cNvSpPr/>
          <p:nvPr/>
        </p:nvSpPr>
        <p:spPr>
          <a:xfrm>
            <a:off x="7368134" y="2931842"/>
            <a:ext cx="2504364" cy="11259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CFF1A245-BB42-EB0F-8511-95808CD7B668}"/>
              </a:ext>
            </a:extLst>
          </p:cNvPr>
          <p:cNvCxnSpPr>
            <a:cxnSpLocks/>
          </p:cNvCxnSpPr>
          <p:nvPr/>
        </p:nvCxnSpPr>
        <p:spPr>
          <a:xfrm flipV="1">
            <a:off x="3732663" y="3500651"/>
            <a:ext cx="3635471" cy="29820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1EC061E-36DC-7C1B-F234-D4DE5262154C}"/>
              </a:ext>
            </a:extLst>
          </p:cNvPr>
          <p:cNvSpPr txBox="1"/>
          <p:nvPr/>
        </p:nvSpPr>
        <p:spPr>
          <a:xfrm>
            <a:off x="7731457" y="3200400"/>
            <a:ext cx="1869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Fully-connected</a:t>
            </a:r>
          </a:p>
          <a:p>
            <a:r>
              <a:rPr lang="en-GB" dirty="0"/>
              <a:t>Neural Network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26054D9-483A-5D05-CDFC-5DFF91CB9DE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8618561" y="4057783"/>
            <a:ext cx="1755" cy="9918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FA4B8-44C7-48B2-B0D5-854B8EC9C9A3}"/>
              </a:ext>
            </a:extLst>
          </p:cNvPr>
          <p:cNvSpPr/>
          <p:nvPr/>
        </p:nvSpPr>
        <p:spPr>
          <a:xfrm>
            <a:off x="7579723" y="5049672"/>
            <a:ext cx="2111843" cy="7584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86C0AA1-D9A0-0FDC-F65A-297C5D6A6782}"/>
              </a:ext>
            </a:extLst>
          </p:cNvPr>
          <p:cNvSpPr txBox="1"/>
          <p:nvPr/>
        </p:nvSpPr>
        <p:spPr>
          <a:xfrm>
            <a:off x="7519940" y="5244224"/>
            <a:ext cx="229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Binary Classification</a:t>
            </a:r>
          </a:p>
        </p:txBody>
      </p:sp>
      <p:pic>
        <p:nvPicPr>
          <p:cNvPr id="17" name="Espace réservé du contenu 4">
            <a:extLst>
              <a:ext uri="{FF2B5EF4-FFF2-40B4-BE49-F238E27FC236}">
                <a16:creationId xmlns:a16="http://schemas.microsoft.com/office/drawing/2014/main" id="{3581F280-22BA-0EAD-119B-DF1F25D2E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888" y="401912"/>
            <a:ext cx="3812743" cy="204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9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0000"/>
                <a:lumOff val="1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F0BFF-DBD2-1EDC-4205-A3386EC9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BDDA2-6289-01A9-C388-E33C51D1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24F436B-5FE3-3607-59E8-DCC3C2667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970" y="2915292"/>
            <a:ext cx="490606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0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4253B-1684-3AAD-194A-7FADD71F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5A7F7-2A7F-38C7-5C98-6AF05EAA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C57909-EACE-98A2-CD27-6E220243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50"/>
            <a:ext cx="10515600" cy="460851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Dataset: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1050 </a:t>
            </a:r>
            <a:r>
              <a:rPr lang="en-GB" dirty="0" err="1">
                <a:solidFill>
                  <a:schemeClr val="bg1"/>
                </a:solidFill>
              </a:rPr>
              <a:t>produits</a:t>
            </a:r>
            <a:r>
              <a:rPr lang="en-GB" dirty="0">
                <a:solidFill>
                  <a:schemeClr val="bg1"/>
                </a:solidFill>
              </a:rPr>
              <a:t> destines à de la vente </a:t>
            </a:r>
            <a:r>
              <a:rPr lang="en-GB" dirty="0" err="1">
                <a:solidFill>
                  <a:schemeClr val="bg1"/>
                </a:solidFill>
              </a:rPr>
              <a:t>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ligne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Nom, description et </a:t>
            </a:r>
            <a:r>
              <a:rPr lang="en-GB" dirty="0" err="1">
                <a:solidFill>
                  <a:schemeClr val="bg1"/>
                </a:solidFill>
              </a:rPr>
              <a:t>catégorie</a:t>
            </a:r>
            <a:r>
              <a:rPr lang="en-GB" dirty="0">
                <a:solidFill>
                  <a:schemeClr val="bg1"/>
                </a:solidFill>
              </a:rPr>
              <a:t> des </a:t>
            </a:r>
            <a:r>
              <a:rPr lang="en-GB" dirty="0" err="1">
                <a:solidFill>
                  <a:schemeClr val="bg1"/>
                </a:solidFill>
              </a:rPr>
              <a:t>produits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0FE446-0AA9-EA4D-20B1-95EBA3238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520" y="365125"/>
            <a:ext cx="3946543" cy="17980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7C89AADD-8088-CC72-B090-152CDF17298C}"/>
              </a:ext>
            </a:extLst>
          </p:cNvPr>
          <p:cNvGrpSpPr/>
          <p:nvPr/>
        </p:nvGrpSpPr>
        <p:grpSpPr>
          <a:xfrm>
            <a:off x="280176" y="3356555"/>
            <a:ext cx="11631648" cy="3067478"/>
            <a:chOff x="280176" y="2467555"/>
            <a:chExt cx="11631648" cy="306747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8F714E27-2923-6D2A-2CA5-C5064BA83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176" y="2467555"/>
              <a:ext cx="11631648" cy="306747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4F3902-2A4A-9DD3-0EA5-79F6AB9AF7F6}"/>
                </a:ext>
              </a:extLst>
            </p:cNvPr>
            <p:cNvSpPr/>
            <p:nvPr/>
          </p:nvSpPr>
          <p:spPr>
            <a:xfrm>
              <a:off x="3002507" y="5302155"/>
              <a:ext cx="907577" cy="177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D35543-2EFC-E493-1AE3-D9A91BFE10CF}"/>
                </a:ext>
              </a:extLst>
            </p:cNvPr>
            <p:cNvSpPr/>
            <p:nvPr/>
          </p:nvSpPr>
          <p:spPr>
            <a:xfrm>
              <a:off x="8636521" y="5325388"/>
              <a:ext cx="1105943" cy="177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74870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483802-2DC7-EFBB-ED31-B991BC4E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F51A3-1672-7FFC-B256-0B51C44A1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Setting </a:t>
            </a:r>
            <a:r>
              <a:rPr lang="en-GB" dirty="0" err="1">
                <a:solidFill>
                  <a:schemeClr val="bg1"/>
                </a:solidFill>
              </a:rPr>
              <a:t>différent</a:t>
            </a:r>
            <a:r>
              <a:rPr lang="en-GB" dirty="0">
                <a:solidFill>
                  <a:schemeClr val="bg1"/>
                </a:solidFill>
              </a:rPr>
              <a:t>: jeu de données peu </a:t>
            </a:r>
            <a:r>
              <a:rPr lang="en-GB" dirty="0" err="1">
                <a:solidFill>
                  <a:schemeClr val="bg1"/>
                </a:solidFill>
              </a:rPr>
              <a:t>adapté</a:t>
            </a:r>
            <a:r>
              <a:rPr lang="en-GB" dirty="0">
                <a:solidFill>
                  <a:schemeClr val="bg1"/>
                </a:solidFill>
              </a:rPr>
              <a:t>…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Pas de concatenation des features Nom/Description et Classe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Pas de classification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binaire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 On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considère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nos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7 classes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090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FDAA4-3626-D439-D63A-9DF42DBD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4D863-4650-6B01-8551-F8F64D68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13BF04D-209E-0199-7B18-AF6F4B4B7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471" y="1936144"/>
            <a:ext cx="3643056" cy="416282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425B2A-9CF6-B3DA-D825-F0E0BE3B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074" y="1936145"/>
            <a:ext cx="3803397" cy="41589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762B409-3C64-72C6-D8AC-16C0F0E82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7" y="1936144"/>
            <a:ext cx="3831147" cy="415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43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15971-F63E-7BC7-4C66-F96D5292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8E5FCAB-72D3-3F8F-43A1-82B9D37AA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78" b="73028"/>
          <a:stretch>
            <a:fillRect/>
          </a:stretch>
        </p:blipFill>
        <p:spPr>
          <a:xfrm>
            <a:off x="280081" y="2562366"/>
            <a:ext cx="5132319" cy="2839431"/>
          </a:xfrm>
          <a:prstGeom prst="rect">
            <a:avLst/>
          </a:prstGeom>
        </p:spPr>
      </p:pic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CE613A4E-B8B1-BA78-4CA2-3E0832DB5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75"/>
          <a:stretch>
            <a:fillRect/>
          </a:stretch>
        </p:blipFill>
        <p:spPr>
          <a:xfrm>
            <a:off x="6022250" y="1471290"/>
            <a:ext cx="5889669" cy="502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0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94E381-86B8-DF90-F87A-C2753A6C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II) </a:t>
            </a:r>
            <a:r>
              <a:rPr lang="en-GB" dirty="0" err="1">
                <a:solidFill>
                  <a:schemeClr val="bg1"/>
                </a:solidFill>
              </a:rPr>
              <a:t>Veille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technologique</a:t>
            </a:r>
            <a:r>
              <a:rPr lang="en-GB" dirty="0">
                <a:solidFill>
                  <a:schemeClr val="bg1"/>
                </a:solidFill>
              </a:rPr>
              <a:t> et POC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8FADA7-CB2B-7ABE-28C6-509778F62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Conclusion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Résultats</a:t>
            </a:r>
            <a:r>
              <a:rPr lang="en-GB" dirty="0">
                <a:solidFill>
                  <a:schemeClr val="bg1"/>
                </a:solidFill>
              </a:rPr>
              <a:t> POC bons </a:t>
            </a:r>
            <a:r>
              <a:rPr lang="en-GB" dirty="0" err="1">
                <a:solidFill>
                  <a:schemeClr val="bg1"/>
                </a:solidFill>
              </a:rPr>
              <a:t>mais</a:t>
            </a:r>
            <a:r>
              <a:rPr lang="en-GB" dirty="0">
                <a:solidFill>
                  <a:schemeClr val="bg1"/>
                </a:solidFill>
              </a:rPr>
              <a:t> ne </a:t>
            </a:r>
            <a:r>
              <a:rPr lang="en-GB" dirty="0" err="1">
                <a:solidFill>
                  <a:schemeClr val="bg1"/>
                </a:solidFill>
              </a:rPr>
              <a:t>permettent</a:t>
            </a:r>
            <a:r>
              <a:rPr lang="en-GB" dirty="0">
                <a:solidFill>
                  <a:schemeClr val="bg1"/>
                </a:solidFill>
              </a:rPr>
              <a:t> pas de </a:t>
            </a:r>
            <a:r>
              <a:rPr lang="en-GB" dirty="0" err="1">
                <a:solidFill>
                  <a:schemeClr val="bg1"/>
                </a:solidFill>
              </a:rPr>
              <a:t>conclure</a:t>
            </a:r>
            <a:r>
              <a:rPr lang="en-GB" dirty="0">
                <a:solidFill>
                  <a:schemeClr val="bg1"/>
                </a:solidFill>
              </a:rPr>
              <a:t> à un gain.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Nécessité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de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travailler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avec un jeu de données bien plus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conséquent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Article: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Résultats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intéressants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mais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des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limites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méthodologiques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inhérentes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au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problème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considéré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classement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plutôt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que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classification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poids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SBERT et TF-IDF constants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explicabilité</a:t>
            </a:r>
            <a:r>
              <a:rPr lang="en-GB" dirty="0">
                <a:solidFill>
                  <a:schemeClr val="bg1"/>
                </a:solidFill>
                <a:sym typeface="Wingdings" panose="05000000000000000000" pitchFamily="2" charset="2"/>
              </a:rPr>
              <a:t> du </a:t>
            </a:r>
            <a:r>
              <a:rPr lang="en-GB" dirty="0" err="1">
                <a:solidFill>
                  <a:schemeClr val="bg1"/>
                </a:solidFill>
                <a:sym typeface="Wingdings" panose="05000000000000000000" pitchFamily="2" charset="2"/>
              </a:rPr>
              <a:t>modèle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1045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248</Words>
  <Application>Microsoft Office PowerPoint</Application>
  <PresentationFormat>Grand écran</PresentationFormat>
  <Paragraphs>47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Thème Office</vt:lpstr>
      <vt:lpstr>Projet 8</vt:lpstr>
      <vt:lpstr>Plan</vt:lpstr>
      <vt:lpstr>I) Dashboard de visualisation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  <vt:lpstr>II) Veille technologique et POC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BRIGHT Rémy</dc:creator>
  <cp:lastModifiedBy>BRIGHT Rémy</cp:lastModifiedBy>
  <cp:revision>1</cp:revision>
  <dcterms:created xsi:type="dcterms:W3CDTF">2026-08-14T15:28:31Z</dcterms:created>
  <dcterms:modified xsi:type="dcterms:W3CDTF">2026-08-14T16:31:07Z</dcterms:modified>
</cp:coreProperties>
</file>